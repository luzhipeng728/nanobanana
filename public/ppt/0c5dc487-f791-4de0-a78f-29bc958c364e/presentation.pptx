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62102" y="852636"/>
            <a:ext cx="1219795" cy="469702"/>
          </a:xfrm>
          <a:prstGeom prst="roundRect">
            <a:avLst>
              <a:gd name="adj" fmla="val 1081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66902" y="954137"/>
            <a:ext cx="6223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06624" y="1576239"/>
            <a:ext cx="373075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年终工作总结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420715" y="2636639"/>
            <a:ext cx="230242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2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回顾过去 · 展望未来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064050" y="3497014"/>
            <a:ext cx="1015901" cy="381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228984" y="4043065"/>
            <a:ext cx="26860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汇报人：张三  |  部门：技术研发部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5063"/>
            <a:ext cx="63401" cy="3048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751" y="203150"/>
            <a:ext cx="18653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年度工作概览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088827"/>
            <a:ext cx="5283398" cy="76185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27000" y="1088827"/>
            <a:ext cx="0" cy="76185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201" y="1241227"/>
            <a:ext cx="4935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核心目标达成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9201" y="1520577"/>
            <a:ext cx="493577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全年完成既定目标的 95%，超额完成 KPI 指标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2003078"/>
            <a:ext cx="5283398" cy="76185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7000" y="2003078"/>
            <a:ext cx="0" cy="76185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201" y="2155478"/>
            <a:ext cx="4935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团队协作提升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201" y="2434828"/>
            <a:ext cx="493577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跨部门协作效率提升 40%，项目交付周期缩短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2917329"/>
            <a:ext cx="5283398" cy="76185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27000" y="2917329"/>
            <a:ext cx="0" cy="76185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201" y="3069729"/>
            <a:ext cx="4935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技术创新突破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201" y="3349079"/>
            <a:ext cx="493577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主导完成 3 项核心技术攻关，申请专利 2 项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7950" y="3831580"/>
            <a:ext cx="5283398" cy="761851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27000" y="3831580"/>
            <a:ext cx="0" cy="761851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201" y="3983980"/>
            <a:ext cx="49357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客户满意度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201" y="4263330"/>
            <a:ext cx="493577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客户满意度评分达到 4.8/5.0，同比提升 15%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96149" y="1088827"/>
            <a:ext cx="2539901" cy="933152"/>
          </a:xfrm>
          <a:prstGeom prst="roundRect">
            <a:avLst>
              <a:gd name="adj" fmla="val 8166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90618" y="1266527"/>
            <a:ext cx="56198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156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8649" y="1663303"/>
            <a:ext cx="6475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完成项目数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96149" y="2174379"/>
            <a:ext cx="2539901" cy="933152"/>
          </a:xfrm>
          <a:prstGeom prst="roundRect">
            <a:avLst>
              <a:gd name="adj" fmla="val 8166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035701" y="2352080"/>
            <a:ext cx="67401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048649" y="2748855"/>
            <a:ext cx="6475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按时交付率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96149" y="3259931"/>
            <a:ext cx="2539901" cy="933152"/>
          </a:xfrm>
          <a:prstGeom prst="roundRect">
            <a:avLst>
              <a:gd name="adj" fmla="val 8166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136606" y="3437632"/>
            <a:ext cx="46816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7048649" y="3834408"/>
            <a:ext cx="6475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000" dirty="0">
                <a:solidFill>
                  <a:srgbClr val="DBEA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满意度评分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5063"/>
            <a:ext cx="63401" cy="3048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751" y="203150"/>
            <a:ext cx="18653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主要工作成果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088827"/>
            <a:ext cx="829066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重点项目完成情况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7950" y="15777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7934" y="1644402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9701" y="1577727"/>
            <a:ext cx="36012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核心系统重构项目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9701" y="1812578"/>
            <a:ext cx="360126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完成系统架构升级，性能提升 200%，支撑日活用户增长到 50 万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73501" y="1577727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783485" y="1644402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05251" y="1577727"/>
            <a:ext cx="36012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数据中台建设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05251" y="1812578"/>
            <a:ext cx="360126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搭建统一数据平台，实现数据资产化管理，支撑业务决策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16425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7934" y="223093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39701" y="2164259"/>
            <a:ext cx="36012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智能化运维体系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39701" y="2399109"/>
            <a:ext cx="360126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 AIOps 平台，故障发现率 95%，修复时间降低 60%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73501" y="2164259"/>
            <a:ext cx="304800" cy="304800"/>
          </a:xfrm>
          <a:prstGeom prst="roundRect">
            <a:avLst>
              <a:gd name="adj" fmla="val 30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783485" y="223093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05251" y="2164259"/>
            <a:ext cx="3601263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安全合规认证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5251" y="2399109"/>
            <a:ext cx="3601263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 ISO27001 安全认证，建立信息安全管理体系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950" y="2750790"/>
            <a:ext cx="8128099" cy="711101"/>
          </a:xfrm>
          <a:prstGeom prst="roundRect">
            <a:avLst>
              <a:gd name="adj" fmla="val 10716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1101" y="2903190"/>
            <a:ext cx="406301" cy="406301"/>
          </a:xfrm>
          <a:prstGeom prst="roundRect">
            <a:avLst>
              <a:gd name="adj" fmla="val 18755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2602" y="2963466"/>
            <a:ext cx="2073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69802" y="2907953"/>
            <a:ext cx="279806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年度最佳团队奖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69802" y="3142804"/>
            <a:ext cx="279806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荣获公司年度最佳团队奖，团队成员获得多项个人荣誉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5063"/>
            <a:ext cx="63401" cy="3048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751" y="203150"/>
            <a:ext cx="21762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个人成长与提升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088827"/>
            <a:ext cx="48708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能力提升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7950" y="1488877"/>
            <a:ext cx="4775299" cy="641152"/>
          </a:xfrm>
          <a:prstGeom prst="roundRect">
            <a:avLst>
              <a:gd name="adj" fmla="val 792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7000" y="1488877"/>
            <a:ext cx="0" cy="64115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751" y="1615827"/>
            <a:ext cx="4469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技术深度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3751" y="1841153"/>
            <a:ext cx="44694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深入学习云原生技术栈，掌握 K8s、Service Mesh 等前沿技术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7950" y="2231529"/>
            <a:ext cx="4775299" cy="641152"/>
          </a:xfrm>
          <a:prstGeom prst="roundRect">
            <a:avLst>
              <a:gd name="adj" fmla="val 792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27000" y="2231529"/>
            <a:ext cx="0" cy="64115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3751" y="2358479"/>
            <a:ext cx="4469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项目管理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23751" y="2583805"/>
            <a:ext cx="44694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考取 PMP 证书，提升项目规划、风险管控和团队协调能力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7950" y="2974181"/>
            <a:ext cx="4775299" cy="641152"/>
          </a:xfrm>
          <a:prstGeom prst="roundRect">
            <a:avLst>
              <a:gd name="adj" fmla="val 792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27000" y="2974181"/>
            <a:ext cx="0" cy="64115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3751" y="3101132"/>
            <a:ext cx="4469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领导力发展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23751" y="3326457"/>
            <a:ext cx="44694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带领 8 人团队完成多个重点项目，培养新人 3 名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7950" y="3716834"/>
            <a:ext cx="4775299" cy="641152"/>
          </a:xfrm>
          <a:prstGeom prst="roundRect">
            <a:avLst>
              <a:gd name="adj" fmla="val 7923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27000" y="3716834"/>
            <a:ext cx="0" cy="641152"/>
          </a:xfrm>
          <a:prstGeom prst="line">
            <a:avLst/>
          </a:prstGeom>
          <a:noFill/>
          <a:ln w="381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751" y="3843784"/>
            <a:ext cx="44694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业务理解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23751" y="4069110"/>
            <a:ext cx="446943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深度参与业务讨论，提升技术方案与业务场景的结合能力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588050" y="1088827"/>
            <a:ext cx="31089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技能掌握度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88050" y="1488877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架构设计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81851" y="1488877"/>
            <a:ext cx="2592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88050" y="1707952"/>
            <a:ext cx="30480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88050" y="1707952"/>
            <a:ext cx="27432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88050" y="1911102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项目管理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81851" y="1911102"/>
            <a:ext cx="2592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588050" y="2130177"/>
            <a:ext cx="30480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88050" y="2130177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588050" y="2333327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团队领导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81851" y="2333327"/>
            <a:ext cx="2592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88050" y="2552402"/>
            <a:ext cx="30480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588050" y="2552402"/>
            <a:ext cx="24384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88050" y="2755553"/>
            <a:ext cx="51810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业务分析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81851" y="2755553"/>
            <a:ext cx="2592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88050" y="2974628"/>
            <a:ext cx="3048000" cy="762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588050" y="2974628"/>
            <a:ext cx="2590800" cy="76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34926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65063"/>
            <a:ext cx="63401" cy="3048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3751" y="203150"/>
            <a:ext cx="1554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问题与改进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7950" y="1038076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39068" y="1104751"/>
            <a:ext cx="4326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251" y="1076176"/>
            <a:ext cx="8419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存在的问题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7950" y="1469827"/>
            <a:ext cx="3911650" cy="541288"/>
          </a:xfrm>
          <a:prstGeom prst="roundRect">
            <a:avLst>
              <a:gd name="adj" fmla="val 938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27000" y="1469827"/>
            <a:ext cx="0" cy="54128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8450" y="1571327"/>
            <a:ext cx="3640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技术债务积累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8450" y="1777603"/>
            <a:ext cx="36401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部分历史代码质量欠佳，重构进度不及预期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7950" y="2087314"/>
            <a:ext cx="3911650" cy="541288"/>
          </a:xfrm>
          <a:prstGeom prst="roundRect">
            <a:avLst>
              <a:gd name="adj" fmla="val 938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27000" y="2087314"/>
            <a:ext cx="0" cy="54128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8450" y="2188815"/>
            <a:ext cx="3640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文档建设滞后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450" y="2395091"/>
            <a:ext cx="36401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技术文档更新不及时，知识传承效率待提升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7950" y="2704802"/>
            <a:ext cx="3911650" cy="541288"/>
          </a:xfrm>
          <a:prstGeom prst="roundRect">
            <a:avLst>
              <a:gd name="adj" fmla="val 938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527000" y="2704802"/>
            <a:ext cx="0" cy="54128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8450" y="2806303"/>
            <a:ext cx="3640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跨团队沟通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8450" y="3012579"/>
            <a:ext cx="36401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与业务团队的沟通机制需要进一步优化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7950" y="3322290"/>
            <a:ext cx="3911650" cy="541288"/>
          </a:xfrm>
          <a:prstGeom prst="roundRect">
            <a:avLst>
              <a:gd name="adj" fmla="val 9385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27000" y="3322290"/>
            <a:ext cx="0" cy="541288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8450" y="3423791"/>
            <a:ext cx="3640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创新投入不足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8450" y="3630067"/>
            <a:ext cx="36401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日常工作占比过高，技术预研时间有限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24400" y="1038076"/>
            <a:ext cx="304800" cy="30480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818459" y="1099989"/>
            <a:ext cx="1188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130701" y="1076176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改进措施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24400" y="1469827"/>
            <a:ext cx="3911650" cy="541288"/>
          </a:xfrm>
          <a:prstGeom prst="roundRect">
            <a:avLst>
              <a:gd name="adj" fmla="val 938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743450" y="1469827"/>
            <a:ext cx="0" cy="541288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4900" y="1571327"/>
            <a:ext cx="3640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制定重构计划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14900" y="1777603"/>
            <a:ext cx="36401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建立技术债务管理机制，分阶段进行代码重构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724400" y="2087314"/>
            <a:ext cx="3911650" cy="541288"/>
          </a:xfrm>
          <a:prstGeom prst="roundRect">
            <a:avLst>
              <a:gd name="adj" fmla="val 938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4743450" y="2087314"/>
            <a:ext cx="0" cy="541288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4900" y="2188815"/>
            <a:ext cx="3640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完善文档体系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14900" y="2395091"/>
            <a:ext cx="36401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建立文档模板和审核流程，推行文档即代码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24400" y="2704802"/>
            <a:ext cx="3911650" cy="541288"/>
          </a:xfrm>
          <a:prstGeom prst="roundRect">
            <a:avLst>
              <a:gd name="adj" fmla="val 938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4743450" y="2704802"/>
            <a:ext cx="0" cy="541288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14900" y="2806303"/>
            <a:ext cx="3640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优化协作流程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14900" y="3012579"/>
            <a:ext cx="36401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建立定期同步机制，使用协作工具提升效率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24400" y="3322290"/>
            <a:ext cx="3911650" cy="541288"/>
          </a:xfrm>
          <a:prstGeom prst="roundRect">
            <a:avLst>
              <a:gd name="adj" fmla="val 9385"/>
            </a:avLst>
          </a:prstGeom>
          <a:solidFill>
            <a:srgbClr val="D1FAE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4743450" y="3322290"/>
            <a:ext cx="0" cy="541288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14900" y="3423791"/>
            <a:ext cx="36401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预留创新时间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14900" y="3630067"/>
            <a:ext cx="3640125" cy="132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40"/>
              </a:lnSpc>
              <a:buNone/>
            </a:pPr>
            <a:r>
              <a:rPr lang="en-US" sz="8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每周固定技术调研时间，鼓励创新实验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2627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315813"/>
            <a:ext cx="76200" cy="3810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87301" y="253901"/>
            <a:ext cx="2620301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2025年工作规划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7950" y="1317427"/>
            <a:ext cx="1879699" cy="1631752"/>
          </a:xfrm>
          <a:prstGeom prst="roundRect">
            <a:avLst>
              <a:gd name="adj" fmla="val 62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07950" y="1341239"/>
            <a:ext cx="1879699" cy="0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101" y="1568202"/>
            <a:ext cx="440234" cy="253901"/>
          </a:xfrm>
          <a:prstGeom prst="roundRect">
            <a:avLst>
              <a:gd name="adj" fmla="val 2000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38051" y="1618952"/>
            <a:ext cx="1900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52835" y="1580852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基础建设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11101" y="1974503"/>
            <a:ext cx="1473398" cy="6953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完成系统稳定性提升</a:t>
            </a:r>
            <a:endParaRPr lang="en-US" sz="10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搭建自动化测试框架</a:t>
            </a:r>
            <a:endParaRPr lang="en-US" sz="10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技术债务清理 30%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90800" y="1317427"/>
            <a:ext cx="1879699" cy="1631752"/>
          </a:xfrm>
          <a:prstGeom prst="roundRect">
            <a:avLst>
              <a:gd name="adj" fmla="val 62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90800" y="1341239"/>
            <a:ext cx="1879699" cy="0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93950" y="1568202"/>
            <a:ext cx="440234" cy="253901"/>
          </a:xfrm>
          <a:prstGeom prst="roundRect">
            <a:avLst>
              <a:gd name="adj" fmla="val 2000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920901" y="1618952"/>
            <a:ext cx="1900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35685" y="1580852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能力升级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93950" y="1974503"/>
            <a:ext cx="1473398" cy="6953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微服务架构优化</a:t>
            </a:r>
            <a:endParaRPr lang="en-US" sz="10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 AI 辅助开发</a:t>
            </a:r>
            <a:endParaRPr lang="en-US" sz="10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团队技能培训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73650" y="1317427"/>
            <a:ext cx="1879699" cy="1631752"/>
          </a:xfrm>
          <a:prstGeom prst="roundRect">
            <a:avLst>
              <a:gd name="adj" fmla="val 62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73650" y="1341239"/>
            <a:ext cx="1879699" cy="0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6800" y="1568202"/>
            <a:ext cx="440234" cy="253901"/>
          </a:xfrm>
          <a:prstGeom prst="roundRect">
            <a:avLst>
              <a:gd name="adj" fmla="val 2000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03750" y="1618952"/>
            <a:ext cx="1900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18534" y="1580852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创新突破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76800" y="1974503"/>
            <a:ext cx="1473398" cy="6953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新产品技术攻关</a:t>
            </a:r>
            <a:endParaRPr lang="en-US" sz="10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性能优化 50%</a:t>
            </a:r>
            <a:endParaRPr lang="en-US" sz="10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安全体系完善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56499" y="1317427"/>
            <a:ext cx="1879699" cy="1631752"/>
          </a:xfrm>
          <a:prstGeom prst="roundRect">
            <a:avLst>
              <a:gd name="adj" fmla="val 6226"/>
            </a:avLst>
          </a:prstGeom>
          <a:solidFill>
            <a:srgbClr val="F8FAF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56499" y="1341239"/>
            <a:ext cx="1879699" cy="0"/>
          </a:xfrm>
          <a:prstGeom prst="line">
            <a:avLst/>
          </a:prstGeom>
          <a:noFill/>
          <a:ln w="47625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59650" y="1568202"/>
            <a:ext cx="440234" cy="253901"/>
          </a:xfrm>
          <a:prstGeom prst="roundRect">
            <a:avLst>
              <a:gd name="adj" fmla="val 20008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086600" y="1618952"/>
            <a:ext cx="19005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01384" y="1580852"/>
            <a:ext cx="6735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成果沉淀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59650" y="1974503"/>
            <a:ext cx="1473398" cy="695325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技术平台产品化</a:t>
            </a:r>
            <a:endParaRPr lang="en-US" sz="10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知识体系建设</a:t>
            </a:r>
            <a:endParaRPr lang="en-US" sz="1000" dirty="0"/>
          </a:p>
          <a:p>
            <a:pPr algn="l" marL="101600" indent="-1016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年度目标收官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7950" y="3203079"/>
            <a:ext cx="8128099" cy="1346002"/>
          </a:xfrm>
          <a:prstGeom prst="roundRect">
            <a:avLst>
              <a:gd name="adj" fmla="val 7548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61851" y="3406229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50702" y="3460105"/>
            <a:ext cx="18140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44352" y="3460105"/>
            <a:ext cx="108783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年度关键目标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1851" y="3914180"/>
            <a:ext cx="1748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系统可用性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1851" y="4164955"/>
            <a:ext cx="17489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达到 99.99% SLA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730401" y="3914180"/>
            <a:ext cx="1748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研发效能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2730401" y="4164955"/>
            <a:ext cx="17489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提升 30% 交付速度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98950" y="3914180"/>
            <a:ext cx="1748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698950" y="4164955"/>
            <a:ext cx="17489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2 项专利申请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67500" y="3914180"/>
            <a:ext cx="17489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人才培养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667500" y="4164955"/>
            <a:ext cx="17489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培养 5 名技术骨干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041999"/>
            <a:ext cx="9144000" cy="1015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152900" y="620762"/>
            <a:ext cx="838200" cy="838200"/>
          </a:xfrm>
          <a:prstGeom prst="roundRect">
            <a:avLst>
              <a:gd name="adj" fmla="val 109091"/>
            </a:avLst>
          </a:prstGeom>
          <a:noFill/>
          <a:ln w="3810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36120" y="825550"/>
            <a:ext cx="27719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483864" y="1763762"/>
            <a:ext cx="2176272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535631" y="2659112"/>
            <a:ext cx="207258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0"/>
              </a:spcAft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携手共进 · 再创佳绩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91000" y="3481388"/>
            <a:ext cx="762000" cy="25301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916734" y="4014639"/>
            <a:ext cx="46634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67484" y="4274939"/>
            <a:ext cx="3626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73885" y="4014639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81884" y="4274939"/>
            <a:ext cx="9065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技术研发部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00551" y="4014639"/>
            <a:ext cx="3108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78636" y="4274939"/>
            <a:ext cx="9676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2024年12月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技术研发部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2024年终工作总结</dc:title>
  <dc:subject>年终总结报告</dc:subject>
  <dc:creator>张三</dc:creator>
  <cp:lastModifiedBy>张三</cp:lastModifiedBy>
  <cp:revision>1</cp:revision>
  <dcterms:created xsi:type="dcterms:W3CDTF">2025-12-11T02:52:52Z</dcterms:created>
  <dcterms:modified xsi:type="dcterms:W3CDTF">2025-12-11T02:52:52Z</dcterms:modified>
</cp:coreProperties>
</file>